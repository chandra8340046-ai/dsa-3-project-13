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413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731407"/>
            <a:ext cx="6480450" cy="3038878"/>
          </a:xfrm>
        </p:spPr>
        <p:txBody>
          <a:bodyPr anchor="t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F79075-DF30-526B-9548-3F9D7EF9F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315" y="5264528"/>
            <a:ext cx="6577526" cy="1001354"/>
          </a:xfrm>
        </p:spPr>
        <p:txBody>
          <a:bodyPr anchor="ctr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3F3D2-CADD-A94F-6739-CCCDA6C6F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80" y="6426091"/>
            <a:ext cx="43575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C541E-3AF5-9564-CE04-E4B86459DB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932188" y="6426091"/>
            <a:ext cx="1431447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772A7-7F28-0EB0-D243-BCC6917D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82685" y="6426091"/>
            <a:ext cx="60311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D3F2A15-2C96-2533-3F11-3EFA30B5671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20000" y="0"/>
            <a:ext cx="4571999" cy="6858000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22CE8C-DC47-AF8A-A37E-C04D364B8D63}"/>
              </a:ext>
            </a:extLst>
          </p:cNvPr>
          <p:cNvCxnSpPr>
            <a:cxnSpLocks/>
          </p:cNvCxnSpPr>
          <p:nvPr/>
        </p:nvCxnSpPr>
        <p:spPr>
          <a:xfrm>
            <a:off x="533400" y="6324773"/>
            <a:ext cx="648045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35A6ADE-4FF0-6E84-4D25-A3E7A481303D}"/>
              </a:ext>
            </a:extLst>
          </p:cNvPr>
          <p:cNvCxnSpPr>
            <a:cxnSpLocks/>
          </p:cNvCxnSpPr>
          <p:nvPr/>
        </p:nvCxnSpPr>
        <p:spPr>
          <a:xfrm>
            <a:off x="533400" y="5184424"/>
            <a:ext cx="6460509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B306735-74E7-C788-FB5F-7BC551ED5CDD}"/>
              </a:ext>
            </a:extLst>
          </p:cNvPr>
          <p:cNvCxnSpPr>
            <a:cxnSpLocks/>
          </p:cNvCxnSpPr>
          <p:nvPr/>
        </p:nvCxnSpPr>
        <p:spPr>
          <a:xfrm>
            <a:off x="533400" y="512722"/>
            <a:ext cx="6456409" cy="0"/>
          </a:xfrm>
          <a:prstGeom prst="line">
            <a:avLst/>
          </a:prstGeom>
          <a:ln w="476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70483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679" y="332308"/>
            <a:ext cx="11253667" cy="909921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336" y="1488931"/>
            <a:ext cx="11253668" cy="47007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530352" y="1357303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22221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1F847F0-1D67-5F49-6571-5F248F11275B}"/>
              </a:ext>
            </a:extLst>
          </p:cNvPr>
          <p:cNvCxnSpPr>
            <a:cxnSpLocks/>
          </p:cNvCxnSpPr>
          <p:nvPr/>
        </p:nvCxnSpPr>
        <p:spPr>
          <a:xfrm>
            <a:off x="8173214" y="530425"/>
            <a:ext cx="3485386" cy="0"/>
          </a:xfrm>
          <a:prstGeom prst="line">
            <a:avLst/>
          </a:prstGeom>
          <a:ln w="412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280C4FA-D5DF-A52F-5EBC-E1A231F643A5}"/>
              </a:ext>
            </a:extLst>
          </p:cNvPr>
          <p:cNvCxnSpPr>
            <a:cxnSpLocks/>
          </p:cNvCxnSpPr>
          <p:nvPr/>
        </p:nvCxnSpPr>
        <p:spPr>
          <a:xfrm>
            <a:off x="8173214" y="5498461"/>
            <a:ext cx="3485386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3968" y="768351"/>
            <a:ext cx="3685656" cy="2843527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D3F2A15-2C96-2533-3F11-3EFA30B5671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605681" cy="6858000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F79075-DF30-526B-9548-3F9D7EF9F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73978" y="5681133"/>
            <a:ext cx="3655646" cy="664191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E2571521-DF5C-DF9C-1A62-5F1513FC610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8073978" y="6426091"/>
            <a:ext cx="229505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135B836-FBFB-89F8-B972-11036B55F5CF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298013" y="6426091"/>
            <a:ext cx="875825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0AD8387-A9F9-E9E2-1138-08C0AA49571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8350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2336" y="765750"/>
            <a:ext cx="9635668" cy="34551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80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428" y="5271844"/>
            <a:ext cx="9613065" cy="100135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4CDCB79-1025-8102-1BC6-378AB173CBFF}"/>
              </a:ext>
            </a:extLst>
          </p:cNvPr>
          <p:cNvCxnSpPr>
            <a:cxnSpLocks/>
          </p:cNvCxnSpPr>
          <p:nvPr/>
        </p:nvCxnSpPr>
        <p:spPr>
          <a:xfrm>
            <a:off x="533400" y="5184424"/>
            <a:ext cx="111252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EF23CAD-F5FD-3FB3-B413-1F54592B07E7}"/>
              </a:ext>
            </a:extLst>
          </p:cNvPr>
          <p:cNvCxnSpPr>
            <a:cxnSpLocks/>
          </p:cNvCxnSpPr>
          <p:nvPr/>
        </p:nvCxnSpPr>
        <p:spPr>
          <a:xfrm>
            <a:off x="533400" y="6324600"/>
            <a:ext cx="111252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24997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997" y="3018408"/>
            <a:ext cx="8961120" cy="3247475"/>
          </a:xfrm>
        </p:spPr>
        <p:txBody>
          <a:bodyPr anchor="b">
            <a:normAutofit/>
          </a:bodyPr>
          <a:lstStyle>
            <a:lvl1pPr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FD05DD5-DCB7-49C7-5E41-2DBD8B73D6D2}"/>
              </a:ext>
            </a:extLst>
          </p:cNvPr>
          <p:cNvCxnSpPr>
            <a:cxnSpLocks/>
          </p:cNvCxnSpPr>
          <p:nvPr/>
        </p:nvCxnSpPr>
        <p:spPr>
          <a:xfrm>
            <a:off x="530646" y="531958"/>
            <a:ext cx="11127954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9FDA663-314D-CA26-DF41-CB3FDC0733F0}"/>
              </a:ext>
            </a:extLst>
          </p:cNvPr>
          <p:cNvCxnSpPr>
            <a:cxnSpLocks/>
          </p:cNvCxnSpPr>
          <p:nvPr/>
        </p:nvCxnSpPr>
        <p:spPr>
          <a:xfrm>
            <a:off x="533400" y="6324600"/>
            <a:ext cx="111252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26952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92851"/>
            <a:ext cx="7525512" cy="1882595"/>
          </a:xfrm>
        </p:spPr>
        <p:txBody>
          <a:bodyPr anchor="t">
            <a:normAutofit/>
          </a:bodyPr>
          <a:lstStyle>
            <a:lvl1pPr>
              <a:defRPr sz="6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34856" y="2502245"/>
            <a:ext cx="7492991" cy="3669956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/>
            </a:lvl1pPr>
            <a:lvl2pPr marL="800100" indent="-342900">
              <a:buFont typeface="+mj-lt"/>
              <a:buAutoNum type="arabicPeriod"/>
              <a:defRPr lang="en-US" sz="1800" dirty="0"/>
            </a:lvl2pPr>
            <a:lvl3pPr marL="1257300" indent="-342900">
              <a:buFont typeface="+mj-lt"/>
              <a:buAutoNum type="arabicPeriod"/>
              <a:defRPr lang="en-US" sz="1600" dirty="0"/>
            </a:lvl3pPr>
            <a:lvl4pPr marL="1714500" indent="-342900">
              <a:buFont typeface="+mj-lt"/>
              <a:buAutoNum type="arabicPeriod"/>
              <a:defRPr lang="en-US" sz="1600" dirty="0"/>
            </a:lvl4pPr>
            <a:lvl5pPr marL="2171700" indent="-342900">
              <a:buFont typeface="+mj-lt"/>
              <a:buAutoNum type="arabicPeriod"/>
              <a:defRPr lang="en-US" sz="16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1243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Agenda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401519"/>
            <a:ext cx="6516938" cy="2091068"/>
          </a:xfrm>
        </p:spPr>
        <p:txBody>
          <a:bodyPr anchor="t">
            <a:normAutofit/>
          </a:bodyPr>
          <a:lstStyle>
            <a:lvl1pPr>
              <a:defRPr sz="6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36526" y="2897442"/>
            <a:ext cx="6482747" cy="3279838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/>
            </a:lvl1pPr>
            <a:lvl2pPr marL="800100" indent="-342900">
              <a:buFont typeface="+mj-lt"/>
              <a:buAutoNum type="arabicPeriod"/>
              <a:defRPr lang="en-US" sz="1800" dirty="0"/>
            </a:lvl2pPr>
            <a:lvl3pPr marL="1257300" indent="-342900">
              <a:buFont typeface="+mj-lt"/>
              <a:buAutoNum type="arabicPeriod"/>
              <a:defRPr lang="en-US" sz="1600" dirty="0"/>
            </a:lvl3pPr>
            <a:lvl4pPr marL="1714500" indent="-342900">
              <a:buFont typeface="+mj-lt"/>
              <a:buAutoNum type="arabicPeriod"/>
              <a:defRPr lang="en-US" sz="1600" dirty="0"/>
            </a:lvl4pPr>
            <a:lvl5pPr marL="2171700" indent="-342900">
              <a:buFont typeface="+mj-lt"/>
              <a:buAutoNum type="arabicPeriod"/>
              <a:defRPr lang="en-US" sz="16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2336" y="6426091"/>
            <a:ext cx="430301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95850" y="6416667"/>
            <a:ext cx="142031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16160" y="6416667"/>
            <a:ext cx="60311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FBFCD9F4-28CD-7877-8D0E-B6685E2A124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19999" y="0"/>
            <a:ext cx="4571999" cy="6857999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E6481B7-DF51-286F-B976-0777FDDAC524}"/>
              </a:ext>
            </a:extLst>
          </p:cNvPr>
          <p:cNvCxnSpPr>
            <a:cxnSpLocks/>
          </p:cNvCxnSpPr>
          <p:nvPr/>
        </p:nvCxnSpPr>
        <p:spPr>
          <a:xfrm>
            <a:off x="530352" y="2670800"/>
            <a:ext cx="6402856" cy="0"/>
          </a:xfrm>
          <a:prstGeom prst="line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66520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560" y="1399734"/>
            <a:ext cx="4136461" cy="291875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3780" y="1398419"/>
            <a:ext cx="625002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04E4891-5C32-2FDE-C242-EDBA3B5D1AC4}"/>
              </a:ext>
            </a:extLst>
          </p:cNvPr>
          <p:cNvCxnSpPr>
            <a:cxnSpLocks/>
          </p:cNvCxnSpPr>
          <p:nvPr/>
        </p:nvCxnSpPr>
        <p:spPr>
          <a:xfrm>
            <a:off x="530352" y="6322906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98938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400" y="435785"/>
            <a:ext cx="4268573" cy="291875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1452" y="743106"/>
            <a:ext cx="6277070" cy="5312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9F873DB-8FEF-C24C-ECA0-EABFFF560476}"/>
              </a:ext>
            </a:extLst>
          </p:cNvPr>
          <p:cNvCxnSpPr>
            <a:cxnSpLocks/>
          </p:cNvCxnSpPr>
          <p:nvPr/>
        </p:nvCxnSpPr>
        <p:spPr>
          <a:xfrm>
            <a:off x="5486400" y="528489"/>
            <a:ext cx="61722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04E4891-5C32-2FDE-C242-EDBA3B5D1AC4}"/>
              </a:ext>
            </a:extLst>
          </p:cNvPr>
          <p:cNvCxnSpPr>
            <a:cxnSpLocks/>
          </p:cNvCxnSpPr>
          <p:nvPr/>
        </p:nvCxnSpPr>
        <p:spPr>
          <a:xfrm>
            <a:off x="530352" y="6324600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81917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3867" y="691867"/>
            <a:ext cx="5664732" cy="12126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4" name="Picture Placeholder 8">
            <a:extLst>
              <a:ext uri="{FF2B5EF4-FFF2-40B4-BE49-F238E27FC236}">
                <a16:creationId xmlns:a16="http://schemas.microsoft.com/office/drawing/2014/main" id="{38FD2E6A-E1F7-36FC-E50F-AD4CE76910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1" y="533400"/>
            <a:ext cx="4953000" cy="5811928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3865" y="2007652"/>
            <a:ext cx="5664732" cy="43153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6058518" y="530352"/>
            <a:ext cx="5600082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08201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7971" y="691866"/>
            <a:ext cx="6680630" cy="12173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7BA63699-2EA2-4B8B-E296-BEF5937412F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533400"/>
            <a:ext cx="3886200" cy="5811924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7971" y="2010699"/>
            <a:ext cx="6680630" cy="43139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4984096" y="533400"/>
            <a:ext cx="6680631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76399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559" y="691867"/>
            <a:ext cx="6664559" cy="12173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217" y="2010699"/>
            <a:ext cx="6661902" cy="43308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7BA63699-2EA2-4B8B-E296-BEF5937412F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20000" y="533400"/>
            <a:ext cx="4038600" cy="5791200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00" y="6426091"/>
            <a:ext cx="355383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3F4131-F439-B360-2C50-DC4ED02C5AF2}"/>
              </a:ext>
            </a:extLst>
          </p:cNvPr>
          <p:cNvCxnSpPr>
            <a:cxnSpLocks/>
          </p:cNvCxnSpPr>
          <p:nvPr/>
        </p:nvCxnSpPr>
        <p:spPr>
          <a:xfrm>
            <a:off x="516418" y="530352"/>
            <a:ext cx="65677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06910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376" y="691868"/>
            <a:ext cx="4577602" cy="143921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376" y="2211185"/>
            <a:ext cx="4577602" cy="39549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7807F9F-79B5-ED92-41CC-A1D1A8D03E3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486400" y="533399"/>
            <a:ext cx="6172200" cy="5791201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516418" y="530352"/>
            <a:ext cx="4436582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37875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8555" y="512011"/>
            <a:ext cx="6792069" cy="125992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9A161C3-930A-50CE-D3B8-C1429E6F242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533399"/>
            <a:ext cx="3886200" cy="5791201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857" y="6426091"/>
            <a:ext cx="413714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8555" y="2148840"/>
            <a:ext cx="6792069" cy="4162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9C51D6-8120-DE83-0A77-B4C479640664}"/>
              </a:ext>
            </a:extLst>
          </p:cNvPr>
          <p:cNvCxnSpPr>
            <a:cxnSpLocks/>
          </p:cNvCxnSpPr>
          <p:nvPr/>
        </p:nvCxnSpPr>
        <p:spPr>
          <a:xfrm>
            <a:off x="4953000" y="1892587"/>
            <a:ext cx="67056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31700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1935" y="691867"/>
            <a:ext cx="3052570" cy="20116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6BC46AA6-BED0-04C6-38E0-12160144CC3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399" y="533400"/>
            <a:ext cx="7667626" cy="5788757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21935" y="2889848"/>
            <a:ext cx="3052570" cy="3434752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5C6323EE-3C7E-2716-8BD0-C89545F04FC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F01E841F-9F6D-0E74-84D5-4BA2AF78F5C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ACE2DCFD-EFAB-71DF-776D-014822C0AB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CFBB608-C785-A34D-1B6D-96361A676495}"/>
              </a:ext>
            </a:extLst>
          </p:cNvPr>
          <p:cNvCxnSpPr>
            <a:cxnSpLocks/>
          </p:cNvCxnSpPr>
          <p:nvPr/>
        </p:nvCxnSpPr>
        <p:spPr>
          <a:xfrm>
            <a:off x="8727541" y="533400"/>
            <a:ext cx="293106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62668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399" y="4829695"/>
            <a:ext cx="4289051" cy="14131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1FFBA57-7EFE-2CC4-EE45-5F1F633C1A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533400"/>
            <a:ext cx="11125200" cy="4013885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177800" dir="14400000" sx="98000" sy="98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857" y="6426091"/>
            <a:ext cx="428905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3779" y="4829695"/>
            <a:ext cx="6554822" cy="1529541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8886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755" y="691867"/>
            <a:ext cx="4067721" cy="155955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1FFBA57-7EFE-2CC4-EE45-5F1F633C1A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2521819"/>
            <a:ext cx="3886200" cy="3802781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190500" dir="144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0685" y="694944"/>
            <a:ext cx="6705600" cy="56296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857" y="6426091"/>
            <a:ext cx="398474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9109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295957"/>
            <a:ext cx="4000501" cy="18895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C4C6F3D6-B9C8-D66A-B29A-CE5D5FBDE5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531891"/>
            <a:ext cx="3886202" cy="3603594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190500" dir="144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1" y="694944"/>
            <a:ext cx="6705599" cy="55067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354F31B-6E0C-9ACF-A3B4-2BE5DD2D21D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1D4992A1-A620-24C8-73C6-0C53DD6F386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2384E85-ACDE-270D-7478-1B88F47F14A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4953001" y="531891"/>
            <a:ext cx="6705599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04E4891-5C32-2FDE-C242-EDBA3B5D1AC4}"/>
              </a:ext>
            </a:extLst>
          </p:cNvPr>
          <p:cNvCxnSpPr>
            <a:cxnSpLocks/>
          </p:cNvCxnSpPr>
          <p:nvPr/>
        </p:nvCxnSpPr>
        <p:spPr>
          <a:xfrm>
            <a:off x="533399" y="6324600"/>
            <a:ext cx="11125201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73744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2889" y="5074607"/>
            <a:ext cx="11166223" cy="1068234"/>
          </a:xfrm>
        </p:spPr>
        <p:txBody>
          <a:bodyPr anchor="ctr">
            <a:normAutofit/>
          </a:bodyPr>
          <a:lstStyle>
            <a:lvl1pPr algn="ctr"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6419" y="495833"/>
            <a:ext cx="11159163" cy="4245996"/>
          </a:xfrm>
        </p:spPr>
        <p:txBody>
          <a:bodyPr anchor="ctr">
            <a:normAutofit/>
          </a:bodyPr>
          <a:lstStyle>
            <a:lvl1pPr marL="0" indent="0" algn="ctr">
              <a:lnSpc>
                <a:spcPct val="90000"/>
              </a:lnSpc>
              <a:buNone/>
              <a:defRPr sz="32000" cap="none" baseline="0">
                <a:solidFill>
                  <a:schemeClr val="accent1"/>
                </a:solidFill>
                <a:latin typeface="+mj-lt"/>
              </a:defRPr>
            </a:lvl1pPr>
            <a:lvl2pPr marL="228600" indent="0" algn="ctr">
              <a:lnSpc>
                <a:spcPct val="110000"/>
              </a:lnSpc>
              <a:buNone/>
              <a:defRPr sz="2400" cap="none" baseline="0">
                <a:solidFill>
                  <a:schemeClr val="tx1"/>
                </a:solidFill>
                <a:latin typeface="+mj-lt"/>
              </a:defRPr>
            </a:lvl2pPr>
            <a:lvl3pPr marL="457200" indent="0" algn="ctr">
              <a:lnSpc>
                <a:spcPct val="110000"/>
              </a:lnSpc>
              <a:buNone/>
              <a:defRPr sz="2000" cap="none" baseline="0">
                <a:solidFill>
                  <a:schemeClr val="tx1"/>
                </a:solidFill>
                <a:latin typeface="+mj-lt"/>
              </a:defRPr>
            </a:lvl3pPr>
            <a:lvl4pPr marL="685800" indent="0" algn="ctr">
              <a:lnSpc>
                <a:spcPct val="110000"/>
              </a:lnSpc>
              <a:buNone/>
              <a:defRPr sz="1800" cap="none" baseline="0">
                <a:solidFill>
                  <a:schemeClr val="tx1"/>
                </a:solidFill>
                <a:latin typeface="+mj-lt"/>
              </a:defRPr>
            </a:lvl4pPr>
            <a:lvl5pPr marL="914400" indent="0" algn="ctr">
              <a:lnSpc>
                <a:spcPct val="110000"/>
              </a:lnSpc>
              <a:buNone/>
              <a:defRPr sz="1600" cap="none" baseline="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FADD3D14-222C-BA8A-E4C0-8637820CBAB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7FEF00E3-D3E5-F5AF-F035-66A1547A063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37222D35-3F63-3753-6F10-57879AFE3C5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6998540-FFAB-625C-C2E6-DC04B074A2C4}"/>
              </a:ext>
            </a:extLst>
          </p:cNvPr>
          <p:cNvCxnSpPr>
            <a:cxnSpLocks/>
          </p:cNvCxnSpPr>
          <p:nvPr/>
        </p:nvCxnSpPr>
        <p:spPr>
          <a:xfrm>
            <a:off x="530352" y="4839664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FE9B0A1-4C47-68AF-0383-4819E2242D4E}"/>
              </a:ext>
            </a:extLst>
          </p:cNvPr>
          <p:cNvCxnSpPr>
            <a:cxnSpLocks/>
          </p:cNvCxnSpPr>
          <p:nvPr/>
        </p:nvCxnSpPr>
        <p:spPr>
          <a:xfrm>
            <a:off x="530352" y="6324600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90341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1480" y="722376"/>
            <a:ext cx="10762488" cy="545896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90000"/>
              </a:lnSpc>
              <a:buNone/>
              <a:defRPr lang="en-US" sz="7200" cap="all" baseline="0" dirty="0">
                <a:latin typeface="+mj-lt"/>
              </a:defRPr>
            </a:lvl1pPr>
            <a:lvl2pPr marL="457200" indent="0">
              <a:lnSpc>
                <a:spcPct val="90000"/>
              </a:lnSpc>
              <a:buNone/>
              <a:defRPr lang="en-US" sz="6600" cap="all" baseline="0" dirty="0">
                <a:latin typeface="+mj-lt"/>
              </a:defRPr>
            </a:lvl2pPr>
            <a:lvl3pPr marL="914400" indent="0">
              <a:lnSpc>
                <a:spcPct val="90000"/>
              </a:lnSpc>
              <a:buNone/>
              <a:defRPr lang="en-US" sz="6000" cap="all" baseline="0" dirty="0">
                <a:latin typeface="+mj-lt"/>
              </a:defRPr>
            </a:lvl3pPr>
            <a:lvl4pPr marL="1371600" indent="0">
              <a:lnSpc>
                <a:spcPct val="90000"/>
              </a:lnSpc>
              <a:buNone/>
              <a:defRPr lang="en-US" sz="6000" cap="all" baseline="0" dirty="0">
                <a:latin typeface="+mj-lt"/>
              </a:defRPr>
            </a:lvl4pPr>
            <a:lvl5pPr marL="1828800" indent="0">
              <a:lnSpc>
                <a:spcPct val="90000"/>
              </a:lnSpc>
              <a:buNone/>
              <a:defRPr lang="en-US" sz="6000" cap="all" baseline="0" dirty="0"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4B05AAB-D167-637A-451A-510AF3173A7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28B3CFC-5715-1685-A039-A3162E1A6D0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5256ABD-1750-68C8-B3DD-DDDA3342C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7C0A4E9-267E-8FCC-AB27-70F0E33E2D79}"/>
              </a:ext>
            </a:extLst>
          </p:cNvPr>
          <p:cNvCxnSpPr>
            <a:cxnSpLocks/>
          </p:cNvCxnSpPr>
          <p:nvPr/>
        </p:nvCxnSpPr>
        <p:spPr>
          <a:xfrm>
            <a:off x="530352" y="533400"/>
            <a:ext cx="11128248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7A1B5A9-A34C-A393-09C0-174C561F5FBF}"/>
              </a:ext>
            </a:extLst>
          </p:cNvPr>
          <p:cNvCxnSpPr>
            <a:cxnSpLocks/>
          </p:cNvCxnSpPr>
          <p:nvPr/>
        </p:nvCxnSpPr>
        <p:spPr>
          <a:xfrm>
            <a:off x="530352" y="6324600"/>
            <a:ext cx="11128248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30067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9764" y="5486400"/>
            <a:ext cx="9472473" cy="939691"/>
          </a:xfrm>
        </p:spPr>
        <p:txBody>
          <a:bodyPr anchor="ctr">
            <a:normAutofit/>
          </a:bodyPr>
          <a:lstStyle>
            <a:lvl1pPr marL="137160" indent="-137160" algn="ctr">
              <a:lnSpc>
                <a:spcPct val="100000"/>
              </a:lnSpc>
              <a:defRPr sz="1800" cap="all" baseline="0">
                <a:latin typeface="+mj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59761" y="667511"/>
            <a:ext cx="9413534" cy="4010998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4400" b="0" cap="none" spc="50" baseline="0">
                <a:solidFill>
                  <a:schemeClr val="accent1"/>
                </a:solidFill>
                <a:latin typeface="+mn-lt"/>
              </a:defRPr>
            </a:lvl1pPr>
            <a:lvl2pPr marL="228600" indent="0" algn="ctr">
              <a:lnSpc>
                <a:spcPct val="100000"/>
              </a:lnSpc>
              <a:buNone/>
              <a:defRPr sz="4000" b="0" cap="none" spc="50" baseline="0">
                <a:solidFill>
                  <a:schemeClr val="accent1"/>
                </a:solidFill>
                <a:latin typeface="+mn-lt"/>
              </a:defRPr>
            </a:lvl2pPr>
            <a:lvl3pPr marL="457200" indent="0" algn="ctr">
              <a:lnSpc>
                <a:spcPct val="100000"/>
              </a:lnSpc>
              <a:buNone/>
              <a:defRPr sz="3600" b="0" cap="none" spc="50" baseline="0">
                <a:solidFill>
                  <a:schemeClr val="accent1"/>
                </a:solidFill>
                <a:latin typeface="+mn-lt"/>
              </a:defRPr>
            </a:lvl3pPr>
            <a:lvl4pPr marL="685800" indent="0" algn="ctr">
              <a:lnSpc>
                <a:spcPct val="100000"/>
              </a:lnSpc>
              <a:buNone/>
              <a:defRPr sz="3200" b="0" cap="none" spc="50" baseline="0">
                <a:solidFill>
                  <a:schemeClr val="accent1"/>
                </a:solidFill>
                <a:latin typeface="+mn-lt"/>
              </a:defRPr>
            </a:lvl4pPr>
            <a:lvl5pPr marL="914400" indent="0" algn="ctr">
              <a:lnSpc>
                <a:spcPct val="100000"/>
              </a:lnSpc>
              <a:buNone/>
              <a:defRPr sz="2800" b="0" cap="none" spc="50" baseline="0">
                <a:solidFill>
                  <a:schemeClr val="accent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8922A5-1A25-C2CB-DB6C-A2CCA7E6E68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AB04756-BB80-4C64-D871-0ADC3A7778F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EF70E65-4C3D-A600-1367-6FBA2FDDE55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C95B307-0002-4F55-5801-73F564B37804}"/>
              </a:ext>
            </a:extLst>
          </p:cNvPr>
          <p:cNvCxnSpPr>
            <a:cxnSpLocks/>
          </p:cNvCxnSpPr>
          <p:nvPr/>
        </p:nvCxnSpPr>
        <p:spPr>
          <a:xfrm>
            <a:off x="1399690" y="5178692"/>
            <a:ext cx="9386681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71462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4958D-8125-1BDA-53C9-9E2D33883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365760"/>
            <a:ext cx="11239498" cy="9144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B8DBCC-227D-BB0A-7CD5-02D66CF1874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19100" y="1714500"/>
            <a:ext cx="5305425" cy="43894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BB7E01-A7E6-1882-4E9B-8EABAF71F96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45936" y="1719072"/>
            <a:ext cx="5321808" cy="43905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94A4A-89C4-68BF-6701-5C47F940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908BC-F48B-81E4-8D93-7DB9E371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F93A54-CB38-BEAF-260B-84EDDF30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90608C5-C55C-14AC-C8E9-7F0530018CE5}"/>
              </a:ext>
            </a:extLst>
          </p:cNvPr>
          <p:cNvCxnSpPr>
            <a:cxnSpLocks/>
          </p:cNvCxnSpPr>
          <p:nvPr/>
        </p:nvCxnSpPr>
        <p:spPr>
          <a:xfrm>
            <a:off x="533400" y="1357303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52877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is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4958D-8125-1BDA-53C9-9E2D33883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5" y="365760"/>
            <a:ext cx="11256264" cy="9144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9FF10-A82A-AAEB-4B8C-921F3BA20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048" y="1490472"/>
            <a:ext cx="5321808" cy="64290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EFD932-A581-1A49-7FAF-0FED2E2BC18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19100" y="2212975"/>
            <a:ext cx="5303838" cy="3892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627A15-4AB2-F230-22C7-0605AFD7DF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1490472"/>
            <a:ext cx="5321808" cy="64290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54404BD-8F2F-278E-C00B-3F1B1DE8CF2C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45238" y="2212975"/>
            <a:ext cx="5321808" cy="3892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94A4A-89C4-68BF-6701-5C47F940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908BC-F48B-81E4-8D93-7DB9E371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F93A54-CB38-BEAF-260B-84EDDF30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90608C5-C55C-14AC-C8E9-7F0530018CE5}"/>
              </a:ext>
            </a:extLst>
          </p:cNvPr>
          <p:cNvCxnSpPr>
            <a:cxnSpLocks/>
          </p:cNvCxnSpPr>
          <p:nvPr/>
        </p:nvCxnSpPr>
        <p:spPr>
          <a:xfrm>
            <a:off x="530352" y="1357303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12159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3695F-5E74-A380-8592-35FB6FC77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C6149D-58D4-7497-818C-CF30244A2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8D2567-C532-BD45-FA85-03DBE3B3C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C0E491-56EB-F527-8A63-FBEEE6196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2678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mpt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E9D82C-4607-0C9D-F241-D35DBEFEF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DCFCC5-7F8E-F549-57BA-7303E9F17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7BEB6A-C028-DA7D-C516-2F1316F03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109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541942"/>
            <a:ext cx="11256264" cy="2225185"/>
          </a:xfrm>
        </p:spPr>
        <p:txBody>
          <a:bodyPr anchor="b">
            <a:normAutofit/>
          </a:bodyPr>
          <a:lstStyle>
            <a:lvl1pPr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099" y="3423301"/>
            <a:ext cx="11239499" cy="290129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457200" indent="0">
              <a:buNone/>
              <a:defRPr lang="en-US" dirty="0"/>
            </a:lvl2pPr>
            <a:lvl3pPr marL="914400" indent="0">
              <a:buNone/>
              <a:defRPr lang="en-US" dirty="0"/>
            </a:lvl3pPr>
            <a:lvl4pPr marL="1371600" indent="0">
              <a:buNone/>
              <a:defRPr lang="en-US" dirty="0"/>
            </a:lvl4pPr>
            <a:lvl5pPr marL="18288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FD55B63-1406-DAD2-DBAB-BD87EA2FB540}"/>
              </a:ext>
            </a:extLst>
          </p:cNvPr>
          <p:cNvCxnSpPr>
            <a:cxnSpLocks/>
          </p:cNvCxnSpPr>
          <p:nvPr/>
        </p:nvCxnSpPr>
        <p:spPr>
          <a:xfrm>
            <a:off x="533400" y="2978854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76413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1836238"/>
            <a:ext cx="11256264" cy="2512732"/>
          </a:xfrm>
        </p:spPr>
        <p:txBody>
          <a:bodyPr anchor="b">
            <a:normAutofit/>
          </a:bodyPr>
          <a:lstStyle>
            <a:lvl1pPr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099" y="4834052"/>
            <a:ext cx="11239499" cy="1405479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2000" dirty="0"/>
            </a:lvl1pPr>
            <a:lvl2pPr marL="457200" indent="0">
              <a:buNone/>
              <a:defRPr lang="en-US" sz="1800" dirty="0"/>
            </a:lvl2pPr>
            <a:lvl3pPr marL="914400" indent="0">
              <a:buNone/>
              <a:defRPr lang="en-US" sz="1600" dirty="0"/>
            </a:lvl3pPr>
            <a:lvl4pPr marL="1371600" indent="0">
              <a:buNone/>
              <a:defRPr lang="en-US" sz="1400" dirty="0"/>
            </a:lvl4pPr>
            <a:lvl5pPr marL="18288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5899B98-11E6-7DB0-F79E-50A541026355}"/>
              </a:ext>
            </a:extLst>
          </p:cNvPr>
          <p:cNvCxnSpPr>
            <a:cxnSpLocks/>
          </p:cNvCxnSpPr>
          <p:nvPr/>
        </p:nvCxnSpPr>
        <p:spPr>
          <a:xfrm>
            <a:off x="533400" y="4531625"/>
            <a:ext cx="11125198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77652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769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8916C8C-4316-E510-1962-E944B3382B43}"/>
              </a:ext>
            </a:extLst>
          </p:cNvPr>
          <p:cNvCxnSpPr>
            <a:cxnSpLocks/>
          </p:cNvCxnSpPr>
          <p:nvPr/>
        </p:nvCxnSpPr>
        <p:spPr>
          <a:xfrm>
            <a:off x="530352" y="533400"/>
            <a:ext cx="111252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478947-1D67-18A4-7E48-5B4B2F97F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83" y="691868"/>
            <a:ext cx="11243617" cy="90113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E08CA-9517-ABC1-E915-31EA6D7B7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7640" y="1754753"/>
            <a:ext cx="11240960" cy="44113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3983D-E783-AAEC-26DB-4B3F6511C7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4857" y="6426091"/>
            <a:ext cx="46887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54426-0A97-D20B-FD06-9648AED777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846205" y="6426091"/>
            <a:ext cx="33276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13386-8E2A-2962-4804-81558038BA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6187" y="6426091"/>
            <a:ext cx="603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1E8D67-00CA-7CDE-66AF-4E6E2CA0045D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9780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Classified as Microsoft Confidential</a:t>
            </a:r>
          </a:p>
        </p:txBody>
      </p:sp>
    </p:spTree>
    <p:extLst>
      <p:ext uri="{BB962C8B-B14F-4D97-AF65-F5344CB8AC3E}">
        <p14:creationId xmlns:p14="http://schemas.microsoft.com/office/powerpoint/2010/main" val="3075584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  <p:sldLayoutId id="2147483714" r:id="rId18"/>
    <p:sldLayoutId id="2147483715" r:id="rId19"/>
    <p:sldLayoutId id="2147483716" r:id="rId20"/>
    <p:sldLayoutId id="2147483717" r:id="rId21"/>
    <p:sldLayoutId id="2147483718" r:id="rId22"/>
    <p:sldLayoutId id="2147483719" r:id="rId23"/>
    <p:sldLayoutId id="2147483720" r:id="rId24"/>
    <p:sldLayoutId id="2147483721" r:id="rId25"/>
    <p:sldLayoutId id="2147483722" r:id="rId26"/>
    <p:sldLayoutId id="2147483723" r:id="rId27"/>
    <p:sldLayoutId id="2147483724" r:id="rId2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84">
          <p15:clr>
            <a:srgbClr val="F26B43"/>
          </p15:clr>
        </p15:guide>
        <p15:guide id="2" pos="4128">
          <p15:clr>
            <a:srgbClr val="F26B43"/>
          </p15:clr>
        </p15:guide>
        <p15:guide id="3" pos="3456">
          <p15:clr>
            <a:srgbClr val="F26B43"/>
          </p15:clr>
        </p15:guide>
        <p15:guide id="4" pos="2784">
          <p15:clr>
            <a:srgbClr val="F26B43"/>
          </p15:clr>
        </p15:guide>
        <p15:guide id="5" pos="336">
          <p15:clr>
            <a:srgbClr val="F26B43"/>
          </p15:clr>
        </p15:guide>
        <p15:guide id="6" pos="7344">
          <p15:clr>
            <a:srgbClr val="F26B43"/>
          </p15:clr>
        </p15:guide>
        <p15:guide id="7" orient="horz" pos="336">
          <p15:clr>
            <a:srgbClr val="F26B43"/>
          </p15:clr>
        </p15:guide>
        <p15:guide id="8" pos="264">
          <p15:clr>
            <a:srgbClr val="F26B43"/>
          </p15:clr>
        </p15:guide>
        <p15:guide id="9" pos="4800">
          <p15:clr>
            <a:srgbClr val="F26B43"/>
          </p15:clr>
        </p15:guide>
        <p15:guide id="10" pos="2112">
          <p15:clr>
            <a:srgbClr val="F26B43"/>
          </p15:clr>
        </p15:guide>
        <p15:guide id="11" pos="547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640080" y="-411480"/>
            <a:ext cx="2743200" cy="2743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320040" y="1600200"/>
            <a:ext cx="64008" cy="64008"/>
          </a:xfrm>
          <a:prstGeom prst="ellipse">
            <a:avLst/>
          </a:prstGeom>
          <a:solidFill>
            <a:srgbClr val="D223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484632" y="1527048"/>
            <a:ext cx="64008" cy="64008"/>
          </a:xfrm>
          <a:prstGeom prst="ellipse">
            <a:avLst/>
          </a:prstGeom>
          <a:solidFill>
            <a:srgbClr val="D223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49224" y="1453896"/>
            <a:ext cx="64008" cy="64008"/>
          </a:xfrm>
          <a:prstGeom prst="ellipse">
            <a:avLst/>
          </a:prstGeom>
          <a:solidFill>
            <a:srgbClr val="D223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13816" y="1380744"/>
            <a:ext cx="64008" cy="64008"/>
          </a:xfrm>
          <a:prstGeom prst="ellipse">
            <a:avLst/>
          </a:prstGeom>
          <a:solidFill>
            <a:srgbClr val="D223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78407" y="1307592"/>
            <a:ext cx="64008" cy="64008"/>
          </a:xfrm>
          <a:prstGeom prst="ellipse">
            <a:avLst/>
          </a:prstGeom>
          <a:solidFill>
            <a:srgbClr val="D223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43000" y="1234440"/>
            <a:ext cx="64008" cy="64008"/>
          </a:xfrm>
          <a:prstGeom prst="ellipse">
            <a:avLst/>
          </a:prstGeom>
          <a:solidFill>
            <a:srgbClr val="D223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307592" y="1161288"/>
            <a:ext cx="64008" cy="64008"/>
          </a:xfrm>
          <a:prstGeom prst="ellipse">
            <a:avLst/>
          </a:prstGeom>
          <a:solidFill>
            <a:srgbClr val="D223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1874519"/>
            <a:ext cx="102412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D22312"/>
                </a:solidFill>
                <a:latin typeface="Aptos Display"/>
              </a:defRPr>
            </a:pPr>
            <a:r>
              <a:t>Full-Text Search Engine</a:t>
            </a:r>
            <a:br/>
            <a:r>
              <a:t>on a Suffix-Array Index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337560"/>
            <a:ext cx="8503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232323"/>
                </a:solidFill>
                <a:latin typeface="Aptos"/>
              </a:defRPr>
            </a:pPr>
            <a:r>
              <a:t>Data Structures and Algorithms – 3 (25CS2103E)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4160520"/>
            <a:ext cx="850392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700" b="1">
                <a:solidFill>
                  <a:srgbClr val="232323"/>
                </a:solidFill>
                <a:latin typeface="Aptos"/>
              </a:defRPr>
            </a:pPr>
            <a:r>
              <a:t>Team 3 • Section 13</a:t>
            </a:r>
          </a:p>
          <a:p>
            <a:pPr algn="ctr">
              <a:spcAft>
                <a:spcPts val="600"/>
              </a:spcAft>
              <a:defRPr sz="1500" b="0">
                <a:solidFill>
                  <a:srgbClr val="232323"/>
                </a:solidFill>
                <a:latin typeface="Aptos"/>
              </a:defRPr>
            </a:pPr>
            <a:r>
              <a:t>Sai Krishna – 2520090156  |  Navaneeth – 2520090218  |  Chaitanya – 2520090099</a:t>
            </a:r>
          </a:p>
          <a:p>
            <a:pPr algn="ctr">
              <a:spcAft>
                <a:spcPts val="600"/>
              </a:spcAft>
              <a:defRPr sz="1500" b="0">
                <a:solidFill>
                  <a:srgbClr val="232323"/>
                </a:solidFill>
                <a:latin typeface="Aptos"/>
              </a:defRPr>
            </a:pPr>
            <a:r>
              <a:t>A.Y. 2026–2027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11480" y="228600"/>
            <a:ext cx="11338560" cy="658368"/>
          </a:xfrm>
          <a:prstGeom prst="roundRect">
            <a:avLst/>
          </a:prstGeom>
          <a:solidFill>
            <a:srgbClr val="D22312"/>
          </a:solidFill>
          <a:ln>
            <a:solidFill>
              <a:srgbClr val="9619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Abstract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25880"/>
            <a:ext cx="107442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1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28016" rIns="164592" rtlCol="0" anchor="ctr"/>
          <a:lstStyle/>
          <a:p>
            <a:pPr algn="ctr">
              <a:defRPr sz="2000" b="1">
                <a:solidFill>
                  <a:srgbClr val="D22312"/>
                </a:solidFill>
                <a:latin typeface="Aptos Display"/>
              </a:defRPr>
            </a:pPr>
            <a:r>
              <a:t>Project Overview</a:t>
            </a:r>
          </a:p>
          <a:p>
            <a:pPr>
              <a:spcBef>
                <a:spcPts val="800"/>
              </a:spcBef>
              <a:defRPr sz="1700">
                <a:solidFill>
                  <a:srgbClr val="232323"/>
                </a:solidFill>
                <a:latin typeface="Aptos"/>
              </a:defRPr>
            </a:pPr>
            <a:r>
              <a:t>The project develops a searchable index for a collection of documents that supports efficient substring, prefix, and phrase queries with ranked results.</a:t>
            </a:r>
            <a:br/>
            <a:br/>
            <a:r>
              <a:t>An O(n log² n) suffix-array construction algorithm organizes document suffixes, while the Kasai algorithm constructs the Longest Common Prefix (LCP) array. LCP-accelerated binary search reduces unnecessary character comparisons and improves query performance.</a:t>
            </a:r>
            <a:br/>
            <a:br/>
            <a:r>
              <a:t>The system retrieves matching document positions and ranks results using relevance and frequency. Its performance is compared with a traditional inverted index using query latency, index size, and search efficiency.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5F5F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11480" y="228600"/>
            <a:ext cx="11338560" cy="658368"/>
          </a:xfrm>
          <a:prstGeom prst="roundRect">
            <a:avLst/>
          </a:prstGeom>
          <a:solidFill>
            <a:srgbClr val="D22312"/>
          </a:solidFill>
          <a:ln>
            <a:solidFill>
              <a:srgbClr val="9619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892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• Rapid growth of digital documents makes efficient and flexible text searching essential.</a:t>
            </a:r>
          </a:p>
          <a:p>
            <a:pPr>
              <a:lnSpc>
                <a:spcPct val="105000"/>
              </a:lnSpc>
              <a:spcAft>
                <a:spcPts val="12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• Traditional inverted indexes map words to the documents in which they occur.</a:t>
            </a:r>
          </a:p>
          <a:p>
            <a:pPr>
              <a:lnSpc>
                <a:spcPct val="105000"/>
              </a:lnSpc>
              <a:spcAft>
                <a:spcPts val="12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• Inverted indexes are effective for keyword and prefix searches, but substring and phrase queries can need additional processing.</a:t>
            </a:r>
          </a:p>
          <a:p>
            <a:pPr>
              <a:lnSpc>
                <a:spcPct val="105000"/>
              </a:lnSpc>
              <a:spcAft>
                <a:spcPts val="12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• Naive string matching scans large portions of text for every query and becomes inefficient as collections grow.</a:t>
            </a:r>
          </a:p>
          <a:p>
            <a:pPr>
              <a:lnSpc>
                <a:spcPct val="105000"/>
              </a:lnSpc>
              <a:spcAft>
                <a:spcPts val="12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• The proposed suffix-array approach stores all suffixes in sorted order and uses binary search for efficient substring and prefix searching.</a:t>
            </a:r>
          </a:p>
          <a:p>
            <a:pPr>
              <a:lnSpc>
                <a:spcPct val="105000"/>
              </a:lnSpc>
              <a:spcAft>
                <a:spcPts val="12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• The Kasai algorithm builds the LCP array, and LCP-accelerated binary search reduces unnecessary character comparisons.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5F5F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11480" y="228600"/>
            <a:ext cx="11338560" cy="658368"/>
          </a:xfrm>
          <a:prstGeom prst="roundRect">
            <a:avLst/>
          </a:prstGeom>
          <a:solidFill>
            <a:srgbClr val="D22312"/>
          </a:solidFill>
          <a:ln>
            <a:solidFill>
              <a:srgbClr val="9619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Literature Survey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325880"/>
            <a:ext cx="3520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1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28016" rIns="164592" rtlCol="0" anchor="ctr"/>
          <a:lstStyle/>
          <a:p>
            <a:pPr algn="ctr">
              <a:defRPr sz="1900" b="1">
                <a:solidFill>
                  <a:srgbClr val="D22312"/>
                </a:solidFill>
                <a:latin typeface="Aptos Display"/>
              </a:defRPr>
            </a:pPr>
            <a:r>
              <a:t>Naive String Matching</a:t>
            </a:r>
          </a:p>
          <a:p>
            <a:pPr>
              <a:spcBef>
                <a:spcPts val="800"/>
              </a:spcBef>
              <a:defRPr sz="1600">
                <a:solidFill>
                  <a:srgbClr val="232323"/>
                </a:solidFill>
                <a:latin typeface="Aptos"/>
              </a:defRPr>
            </a:pPr>
            <a:r>
              <a:t>• Directly scans text for each query</a:t>
            </a:r>
            <a:br/>
            <a:br/>
            <a:r>
              <a:t>• Simple to implement</a:t>
            </a:r>
            <a:br/>
            <a:br/>
            <a:r>
              <a:t>• Becomes inefficient as document collections grow</a:t>
            </a:r>
            <a:br/>
            <a:br/>
            <a:r>
              <a:t>• Can require repeated character comparisons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43400" y="1325880"/>
            <a:ext cx="3520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1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28016" rIns="164592" rtlCol="0" anchor="ctr"/>
          <a:lstStyle/>
          <a:p>
            <a:pPr algn="ctr">
              <a:defRPr sz="1900" b="1">
                <a:solidFill>
                  <a:srgbClr val="D22312"/>
                </a:solidFill>
                <a:latin typeface="Aptos Display"/>
              </a:defRPr>
            </a:pPr>
            <a:r>
              <a:t>Inverted Index</a:t>
            </a:r>
          </a:p>
          <a:p>
            <a:pPr>
              <a:spcBef>
                <a:spcPts val="800"/>
              </a:spcBef>
              <a:defRPr sz="1600">
                <a:solidFill>
                  <a:srgbClr val="232323"/>
                </a:solidFill>
                <a:latin typeface="Aptos"/>
              </a:defRPr>
            </a:pPr>
            <a:r>
              <a:t>• Maps words to documents</a:t>
            </a:r>
            <a:br/>
            <a:br/>
            <a:r>
              <a:t>• Provides fast keyword and prefix searches</a:t>
            </a:r>
            <a:br/>
            <a:br/>
            <a:r>
              <a:t>• Substring and phrase queries may need additional processing</a:t>
            </a:r>
            <a:br/>
            <a:br/>
            <a:r>
              <a:t>• Index complexity can increase for broader query types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92440" y="1325880"/>
            <a:ext cx="3520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1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28016" rIns="164592" rtlCol="0" anchor="ctr"/>
          <a:lstStyle/>
          <a:p>
            <a:pPr algn="ctr">
              <a:defRPr sz="1900" b="1">
                <a:solidFill>
                  <a:srgbClr val="D22312"/>
                </a:solidFill>
                <a:latin typeface="Aptos Display"/>
              </a:defRPr>
            </a:pPr>
            <a:r>
              <a:t>Suffix Array</a:t>
            </a:r>
          </a:p>
          <a:p>
            <a:pPr>
              <a:spcBef>
                <a:spcPts val="800"/>
              </a:spcBef>
              <a:defRPr sz="1600">
                <a:solidFill>
                  <a:srgbClr val="232323"/>
                </a:solidFill>
                <a:latin typeface="Aptos"/>
              </a:defRPr>
            </a:pPr>
            <a:r>
              <a:t>• Organizes all suffixes in sorted order</a:t>
            </a:r>
            <a:br/>
            <a:br/>
            <a:r>
              <a:t>• Supports binary-search-based substring and prefix queries</a:t>
            </a:r>
            <a:br/>
            <a:br/>
            <a:r>
              <a:t>• LCP array reduces unnecessary comparisons</a:t>
            </a:r>
            <a:br/>
            <a:br/>
            <a:r>
              <a:t>• Compact and flexible for full-text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5F5F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11480" y="228600"/>
            <a:ext cx="11338560" cy="658368"/>
          </a:xfrm>
          <a:prstGeom prst="roundRect">
            <a:avLst/>
          </a:prstGeom>
          <a:solidFill>
            <a:srgbClr val="D22312"/>
          </a:solidFill>
          <a:ln>
            <a:solidFill>
              <a:srgbClr val="9619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Problem Statement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442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28016" rIns="164592" rtlCol="0" anchor="ctr"/>
          <a:lstStyle/>
          <a:p>
            <a:pPr algn="ctr">
              <a:defRPr sz="2200" b="1">
                <a:solidFill>
                  <a:srgbClr val="D22312"/>
                </a:solidFill>
                <a:latin typeface="Aptos Display"/>
              </a:defRPr>
            </a:pPr>
            <a:r>
              <a:t>Problem</a:t>
            </a:r>
          </a:p>
          <a:p>
            <a:pPr>
              <a:spcBef>
                <a:spcPts val="800"/>
              </a:spcBef>
              <a:defRPr sz="1900">
                <a:solidFill>
                  <a:srgbClr val="232323"/>
                </a:solidFill>
                <a:latin typeface="Aptos"/>
              </a:defRPr>
            </a:pPr>
            <a:r>
              <a:t>Design an efficient full-text searchable index that can handle substring, prefix, and phrase queries while reducing unnecessary text comparisons and supporting ranked search results.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474720"/>
            <a:ext cx="51663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28016" rIns="164592" rtlCol="0" anchor="ctr"/>
          <a:lstStyle/>
          <a:p>
            <a:pPr algn="ctr">
              <a:defRPr sz="2000" b="1">
                <a:solidFill>
                  <a:srgbClr val="D22312"/>
                </a:solidFill>
                <a:latin typeface="Aptos Display"/>
              </a:defRPr>
            </a:pPr>
            <a:r>
              <a:t>Key Challenges</a:t>
            </a:r>
          </a:p>
          <a:p>
            <a:pPr>
              <a:spcBef>
                <a:spcPts val="800"/>
              </a:spcBef>
              <a:defRPr sz="1600">
                <a:solidFill>
                  <a:srgbClr val="232323"/>
                </a:solidFill>
                <a:latin typeface="Aptos"/>
              </a:defRPr>
            </a:pPr>
            <a:r>
              <a:t>• Efficient search as document collections grow</a:t>
            </a:r>
            <a:br/>
            <a:r>
              <a:t>• Handling queries beyond simple keywords</a:t>
            </a:r>
            <a:br/>
            <a:r>
              <a:t>• Avoiding repeated character comparisons</a:t>
            </a:r>
            <a:br/>
            <a:r>
              <a:t>• Keeping the index compact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3474720"/>
            <a:ext cx="53949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28016" rIns="164592" rtlCol="0" anchor="ctr"/>
          <a:lstStyle/>
          <a:p>
            <a:pPr algn="ctr">
              <a:defRPr sz="2000" b="1">
                <a:solidFill>
                  <a:srgbClr val="D22312"/>
                </a:solidFill>
                <a:latin typeface="Aptos Display"/>
              </a:defRPr>
            </a:pPr>
            <a:r>
              <a:t>Proposed Direction</a:t>
            </a:r>
          </a:p>
          <a:p>
            <a:pPr>
              <a:spcBef>
                <a:spcPts val="800"/>
              </a:spcBef>
              <a:defRPr sz="1600">
                <a:solidFill>
                  <a:srgbClr val="232323"/>
                </a:solidFill>
                <a:latin typeface="Aptos"/>
              </a:defRPr>
            </a:pPr>
            <a:r>
              <a:t>Use a suffix array + Kasai LCP array + LCP-accelerated binary search, then compare performance with a traditional inverted index.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5F5F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11480" y="228600"/>
            <a:ext cx="11338560" cy="658368"/>
          </a:xfrm>
          <a:prstGeom prst="roundRect">
            <a:avLst/>
          </a:prstGeom>
          <a:solidFill>
            <a:srgbClr val="D22312"/>
          </a:solidFill>
          <a:ln>
            <a:solidFill>
              <a:srgbClr val="9619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892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• Build a searchable index over a collection of documents using a suffix array.</a:t>
            </a:r>
          </a:p>
          <a:p>
            <a:pPr>
              <a:lnSpc>
                <a:spcPct val="105000"/>
              </a:lnSpc>
              <a:spcAft>
                <a:spcPts val="12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• Construct the suffix array using an O(n log² n) algorithm.</a:t>
            </a:r>
          </a:p>
          <a:p>
            <a:pPr>
              <a:lnSpc>
                <a:spcPct val="105000"/>
              </a:lnSpc>
              <a:spcAft>
                <a:spcPts val="12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• Construct the Longest Common Prefix (LCP) array using the Kasai algorithm.</a:t>
            </a:r>
          </a:p>
          <a:p>
            <a:pPr>
              <a:lnSpc>
                <a:spcPct val="105000"/>
              </a:lnSpc>
              <a:spcAft>
                <a:spcPts val="12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• Support substring, prefix, and phrase queries through binary search.</a:t>
            </a:r>
          </a:p>
          <a:p>
            <a:pPr>
              <a:lnSpc>
                <a:spcPct val="105000"/>
              </a:lnSpc>
              <a:spcAft>
                <a:spcPts val="12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• Use LCP-accelerated binary search to reduce unnecessary character comparisons.</a:t>
            </a:r>
          </a:p>
          <a:p>
            <a:pPr>
              <a:lnSpc>
                <a:spcPct val="105000"/>
              </a:lnSpc>
              <a:spcAft>
                <a:spcPts val="12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• Retrieve matching document positions and rank results using relevance and frequency.</a:t>
            </a:r>
          </a:p>
          <a:p>
            <a:pPr>
              <a:lnSpc>
                <a:spcPct val="105000"/>
              </a:lnSpc>
              <a:spcAft>
                <a:spcPts val="12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• Compare the proposed approach with an inverted index using query latency, index size, and search efficiency.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5F5F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11480" y="228600"/>
            <a:ext cx="11338560" cy="658368"/>
          </a:xfrm>
          <a:prstGeom prst="roundRect">
            <a:avLst/>
          </a:prstGeom>
          <a:solidFill>
            <a:srgbClr val="D22312"/>
          </a:solidFill>
          <a:ln>
            <a:solidFill>
              <a:srgbClr val="9619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Hardware and Software Requirements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234440"/>
            <a:ext cx="544068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E1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28016" rIns="164592" rtlCol="0" anchor="ctr"/>
          <a:lstStyle/>
          <a:p>
            <a:pPr algn="ctr">
              <a:defRPr sz="2000" b="1">
                <a:solidFill>
                  <a:srgbClr val="D22312"/>
                </a:solidFill>
                <a:latin typeface="Aptos Display"/>
              </a:defRPr>
            </a:pPr>
            <a:r>
              <a:t>Software Requirements</a:t>
            </a:r>
          </a:p>
          <a:p>
            <a:pPr>
              <a:spcBef>
                <a:spcPts val="800"/>
              </a:spcBef>
              <a:defRPr sz="1400">
                <a:solidFill>
                  <a:srgbClr val="232323"/>
                </a:solidFill>
                <a:latin typeface="Aptos"/>
              </a:defRPr>
            </a:pPr>
            <a:r>
              <a:t>Operating System: Windows 10/11, Linux, or macOS</a:t>
            </a:r>
            <a:br/>
            <a:br/>
            <a:r>
              <a:t>Programming Language: Python 3.x / C++17</a:t>
            </a:r>
            <a:br/>
            <a:br/>
            <a:r>
              <a:t>IDE/Editor: Visual Studio Code, PyCharm, or suitable editor</a:t>
            </a:r>
            <a:br/>
            <a:br/>
            <a:r>
              <a:t>Libraries/Tools: Standard libraries for string processing, sorting, file handling, and data structures</a:t>
            </a:r>
            <a:br/>
            <a:br/>
            <a:r>
              <a:t>Storage: Text files or suitable document storage</a:t>
            </a:r>
            <a:br/>
            <a:br/>
            <a:r>
              <a:t>Testing: Command-line terminal and performance measurement tools</a:t>
            </a:r>
            <a:br/>
            <a:br/>
            <a:r>
              <a:t>Version Control: Git and GitHub (optional)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72200" y="1234440"/>
            <a:ext cx="539496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E1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28016" rIns="164592" rtlCol="0" anchor="ctr"/>
          <a:lstStyle/>
          <a:p>
            <a:pPr algn="ctr">
              <a:defRPr sz="2000" b="1">
                <a:solidFill>
                  <a:srgbClr val="D22312"/>
                </a:solidFill>
                <a:latin typeface="Aptos Display"/>
              </a:defRPr>
            </a:pPr>
            <a:r>
              <a:t>Hardware Requirements</a:t>
            </a:r>
          </a:p>
          <a:p>
            <a:pPr>
              <a:spcBef>
                <a:spcPts val="800"/>
              </a:spcBef>
              <a:defRPr sz="1500">
                <a:solidFill>
                  <a:srgbClr val="232323"/>
                </a:solidFill>
                <a:latin typeface="Aptos"/>
              </a:defRPr>
            </a:pPr>
            <a:r>
              <a:t>Processor: Intel Core i3 or equivalent and above</a:t>
            </a:r>
            <a:br/>
            <a:br/>
            <a:r>
              <a:t>RAM: Minimum 4 GB; 8 GB recommended</a:t>
            </a:r>
            <a:br/>
            <a:br/>
            <a:r>
              <a:t>Storage: Minimum 10 GB free disk space</a:t>
            </a:r>
            <a:br/>
            <a:br/>
            <a:r>
              <a:t>Display: 1366 × 768 resolution or higher</a:t>
            </a:r>
            <a:br/>
            <a:br/>
            <a:r>
              <a:t>Keyboard &amp; Mouse: Standard keyboard and pointing device</a:t>
            </a:r>
            <a:br/>
            <a:br/>
            <a:r>
              <a:t>Internet: Required for software/libraries downloads and optional GitHub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5F5F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11480" y="228600"/>
            <a:ext cx="11338560" cy="658368"/>
          </a:xfrm>
          <a:prstGeom prst="roundRect">
            <a:avLst/>
          </a:prstGeom>
          <a:solidFill>
            <a:srgbClr val="D22312"/>
          </a:solidFill>
          <a:ln>
            <a:solidFill>
              <a:srgbClr val="9619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Proposed Methodology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25880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1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28016" rIns="164592" rtlCol="0" anchor="ctr"/>
          <a:lstStyle/>
          <a:p>
            <a:pPr algn="ctr">
              <a:defRPr sz="1700" b="1">
                <a:solidFill>
                  <a:srgbClr val="D22312"/>
                </a:solidFill>
                <a:latin typeface="Aptos Display"/>
              </a:defRPr>
            </a:pPr>
            <a:r>
              <a:t>1. Document Collection</a:t>
            </a:r>
          </a:p>
          <a:p>
            <a:pPr>
              <a:spcBef>
                <a:spcPts val="800"/>
              </a:spcBef>
              <a:defRPr sz="1300">
                <a:solidFill>
                  <a:srgbClr val="232323"/>
                </a:solidFill>
                <a:latin typeface="Aptos"/>
              </a:defRPr>
            </a:pPr>
            <a:r>
              <a:t>Collect the text documents used by the search system.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325880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1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28016" rIns="164592" rtlCol="0" anchor="ctr"/>
          <a:lstStyle/>
          <a:p>
            <a:pPr algn="ctr">
              <a:defRPr sz="1700" b="1">
                <a:solidFill>
                  <a:srgbClr val="D22312"/>
                </a:solidFill>
                <a:latin typeface="Aptos Display"/>
              </a:defRPr>
            </a:pPr>
            <a:r>
              <a:t>2. Suffix Array</a:t>
            </a:r>
          </a:p>
          <a:p>
            <a:pPr>
              <a:spcBef>
                <a:spcPts val="800"/>
              </a:spcBef>
              <a:defRPr sz="1300">
                <a:solidFill>
                  <a:srgbClr val="232323"/>
                </a:solidFill>
                <a:latin typeface="Aptos"/>
              </a:defRPr>
            </a:pPr>
            <a:r>
              <a:t>Sort all suffixes using the O(n log² n) construction approach.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1325880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1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28016" rIns="164592" rtlCol="0" anchor="ctr"/>
          <a:lstStyle/>
          <a:p>
            <a:pPr algn="ctr">
              <a:defRPr sz="1700" b="1">
                <a:solidFill>
                  <a:srgbClr val="D22312"/>
                </a:solidFill>
                <a:latin typeface="Aptos Display"/>
              </a:defRPr>
            </a:pPr>
            <a:r>
              <a:t>3. LCP Array</a:t>
            </a:r>
          </a:p>
          <a:p>
            <a:pPr>
              <a:spcBef>
                <a:spcPts val="800"/>
              </a:spcBef>
              <a:defRPr sz="1300">
                <a:solidFill>
                  <a:srgbClr val="232323"/>
                </a:solidFill>
                <a:latin typeface="Aptos"/>
              </a:defRPr>
            </a:pPr>
            <a:r>
              <a:t>Use Kasai algorithm to compute longest common prefixes.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566160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1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28016" rIns="164592" rtlCol="0" anchor="ctr"/>
          <a:lstStyle/>
          <a:p>
            <a:pPr algn="ctr">
              <a:defRPr sz="1700" b="1">
                <a:solidFill>
                  <a:srgbClr val="D22312"/>
                </a:solidFill>
                <a:latin typeface="Aptos Display"/>
              </a:defRPr>
            </a:pPr>
            <a:r>
              <a:t>4. Query Search</a:t>
            </a:r>
          </a:p>
          <a:p>
            <a:pPr>
              <a:spcBef>
                <a:spcPts val="800"/>
              </a:spcBef>
              <a:defRPr sz="1300">
                <a:solidFill>
                  <a:srgbClr val="232323"/>
                </a:solidFill>
                <a:latin typeface="Aptos"/>
              </a:defRPr>
            </a:pPr>
            <a:r>
              <a:t>Apply LCP-accelerated binary search for substring/prefix matching.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3566160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1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28016" rIns="164592" rtlCol="0" anchor="ctr"/>
          <a:lstStyle/>
          <a:p>
            <a:pPr algn="ctr">
              <a:defRPr sz="1700" b="1">
                <a:solidFill>
                  <a:srgbClr val="D22312"/>
                </a:solidFill>
                <a:latin typeface="Aptos Display"/>
              </a:defRPr>
            </a:pPr>
            <a:r>
              <a:t>5. Ranking</a:t>
            </a:r>
          </a:p>
          <a:p>
            <a:pPr>
              <a:spcBef>
                <a:spcPts val="800"/>
              </a:spcBef>
              <a:defRPr sz="1300">
                <a:solidFill>
                  <a:srgbClr val="232323"/>
                </a:solidFill>
                <a:latin typeface="Aptos"/>
              </a:defRPr>
            </a:pPr>
            <a:r>
              <a:t>Retrieve matching positions and rank results by relevance and frequency.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3566160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1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28016" rIns="164592" rtlCol="0" anchor="ctr"/>
          <a:lstStyle/>
          <a:p>
            <a:pPr algn="ctr">
              <a:defRPr sz="1700" b="1">
                <a:solidFill>
                  <a:srgbClr val="D22312"/>
                </a:solidFill>
                <a:latin typeface="Aptos Display"/>
              </a:defRPr>
            </a:pPr>
            <a:r>
              <a:t>6. Evaluation</a:t>
            </a:r>
          </a:p>
          <a:p>
            <a:pPr>
              <a:spcBef>
                <a:spcPts val="800"/>
              </a:spcBef>
              <a:defRPr sz="1300">
                <a:solidFill>
                  <a:srgbClr val="232323"/>
                </a:solidFill>
                <a:latin typeface="Aptos"/>
              </a:defRPr>
            </a:pPr>
            <a:r>
              <a:t>Compare against an inverted index using latency, index size and search efficiency.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5F5F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11480" y="228600"/>
            <a:ext cx="11338560" cy="658368"/>
          </a:xfrm>
          <a:prstGeom prst="roundRect">
            <a:avLst/>
          </a:prstGeom>
          <a:solidFill>
            <a:srgbClr val="D22312"/>
          </a:solidFill>
          <a:ln>
            <a:solidFill>
              <a:srgbClr val="9619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Results and Evaluation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280160"/>
            <a:ext cx="35204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1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28016" rIns="164592" rtlCol="0" anchor="ctr"/>
          <a:lstStyle/>
          <a:p>
            <a:pPr algn="ctr">
              <a:defRPr sz="1900" b="1">
                <a:solidFill>
                  <a:srgbClr val="D22312"/>
                </a:solidFill>
                <a:latin typeface="Aptos Display"/>
              </a:defRPr>
            </a:pPr>
            <a:r>
              <a:t>What is Evaluated?</a:t>
            </a:r>
          </a:p>
          <a:p>
            <a:pPr>
              <a:spcBef>
                <a:spcPts val="800"/>
              </a:spcBef>
              <a:defRPr sz="1700">
                <a:solidFill>
                  <a:srgbClr val="232323"/>
                </a:solidFill>
                <a:latin typeface="Aptos"/>
              </a:defRPr>
            </a:pPr>
            <a:r>
              <a:t>Query latency</a:t>
            </a:r>
            <a:br/>
            <a:br/>
            <a:r>
              <a:t>Index size</a:t>
            </a:r>
            <a:br/>
            <a:br/>
            <a:r>
              <a:t>Search efficiency</a:t>
            </a:r>
            <a:br/>
            <a:br/>
            <a:r>
              <a:t>Substring, prefix and phrase query handling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43400" y="1280160"/>
            <a:ext cx="35204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1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28016" rIns="164592" rtlCol="0" anchor="ctr"/>
          <a:lstStyle/>
          <a:p>
            <a:pPr algn="ctr">
              <a:defRPr sz="1900" b="1">
                <a:solidFill>
                  <a:srgbClr val="D22312"/>
                </a:solidFill>
                <a:latin typeface="Aptos Display"/>
              </a:defRPr>
            </a:pPr>
            <a:r>
              <a:t>Comparison</a:t>
            </a:r>
          </a:p>
          <a:p>
            <a:pPr>
              <a:spcBef>
                <a:spcPts val="800"/>
              </a:spcBef>
              <a:defRPr sz="1700">
                <a:solidFill>
                  <a:srgbClr val="232323"/>
                </a:solidFill>
                <a:latin typeface="Aptos"/>
              </a:defRPr>
            </a:pPr>
            <a:r>
              <a:t>The proposed suffix-array index is compared with a traditional inverted index.</a:t>
            </a:r>
            <a:br/>
            <a:br/>
            <a:r>
              <a:t>The goal is to identify the advantages and limitations of suffix-array-based full-text indexing.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92440" y="1280160"/>
            <a:ext cx="35204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1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28016" rIns="164592" rtlCol="0" anchor="ctr"/>
          <a:lstStyle/>
          <a:p>
            <a:pPr algn="ctr">
              <a:defRPr sz="1900" b="1">
                <a:solidFill>
                  <a:srgbClr val="D22312"/>
                </a:solidFill>
                <a:latin typeface="Aptos Display"/>
              </a:defRPr>
            </a:pPr>
            <a:r>
              <a:t>Source Limitation</a:t>
            </a:r>
          </a:p>
          <a:p>
            <a:pPr>
              <a:spcBef>
                <a:spcPts val="800"/>
              </a:spcBef>
              <a:defRPr sz="1700">
                <a:solidFill>
                  <a:srgbClr val="232323"/>
                </a:solidFill>
                <a:latin typeface="Aptos"/>
              </a:defRPr>
            </a:pPr>
            <a:r>
              <a:t>The provided abstract/report does not contain numerical benchmark results.</a:t>
            </a:r>
            <a:br/>
            <a:br/>
            <a:r>
              <a:t>Therefore, no performance numbers are invented in this presentation.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5F5F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11480" y="228600"/>
            <a:ext cx="11338560" cy="658368"/>
          </a:xfrm>
          <a:prstGeom prst="roundRect">
            <a:avLst/>
          </a:prstGeom>
          <a:solidFill>
            <a:srgbClr val="D22312"/>
          </a:solidFill>
          <a:ln>
            <a:solidFill>
              <a:srgbClr val="9619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389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  <a:defRPr sz="2000">
                <a:solidFill>
                  <a:srgbClr val="232323"/>
                </a:solidFill>
                <a:latin typeface="Aptos"/>
              </a:defRPr>
            </a:pPr>
            <a:r>
              <a:t>• Suffix arrays provide a compact and flexible structure for full-text search.</a:t>
            </a:r>
          </a:p>
          <a:p>
            <a:pPr>
              <a:lnSpc>
                <a:spcPct val="105000"/>
              </a:lnSpc>
              <a:spcAft>
                <a:spcPts val="1200"/>
              </a:spcAft>
              <a:defRPr sz="2000">
                <a:solidFill>
                  <a:srgbClr val="232323"/>
                </a:solidFill>
                <a:latin typeface="Aptos"/>
              </a:defRPr>
            </a:pPr>
            <a:r>
              <a:t>• Sorted suffixes enable efficient binary-search-based substring and prefix searching.</a:t>
            </a:r>
          </a:p>
          <a:p>
            <a:pPr>
              <a:lnSpc>
                <a:spcPct val="105000"/>
              </a:lnSpc>
              <a:spcAft>
                <a:spcPts val="1200"/>
              </a:spcAft>
              <a:defRPr sz="2000">
                <a:solidFill>
                  <a:srgbClr val="232323"/>
                </a:solidFill>
                <a:latin typeface="Aptos"/>
              </a:defRPr>
            </a:pPr>
            <a:r>
              <a:t>• The Kasai LCP array helps reduce unnecessary character comparisons during search.</a:t>
            </a:r>
          </a:p>
          <a:p>
            <a:pPr>
              <a:lnSpc>
                <a:spcPct val="105000"/>
              </a:lnSpc>
              <a:spcAft>
                <a:spcPts val="1200"/>
              </a:spcAft>
              <a:defRPr sz="2000">
                <a:solidFill>
                  <a:srgbClr val="232323"/>
                </a:solidFill>
                <a:latin typeface="Aptos"/>
              </a:defRPr>
            </a:pPr>
            <a:r>
              <a:t>• The system supports substring, prefix, and phrase queries with ranked results.</a:t>
            </a:r>
          </a:p>
          <a:p>
            <a:pPr>
              <a:lnSpc>
                <a:spcPct val="105000"/>
              </a:lnSpc>
              <a:spcAft>
                <a:spcPts val="1200"/>
              </a:spcAft>
              <a:defRPr sz="2000">
                <a:solidFill>
                  <a:srgbClr val="232323"/>
                </a:solidFill>
                <a:latin typeface="Aptos"/>
              </a:defRPr>
            </a:pPr>
            <a:r>
              <a:t>• Comparison with an inverted index helps highlight the advantages and limitations of the suffix-array approach.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5257800"/>
            <a:ext cx="102412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1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28016" rIns="164592" rtlCol="0" anchor="ctr"/>
          <a:lstStyle/>
          <a:p>
            <a:pPr algn="ctr">
              <a:defRPr sz="1700" b="1">
                <a:solidFill>
                  <a:srgbClr val="D22312"/>
                </a:solidFill>
                <a:latin typeface="Aptos Display"/>
              </a:defRPr>
            </a:pPr>
            <a:r>
              <a:t>Key Takeaway</a:t>
            </a:r>
          </a:p>
          <a:p>
            <a:pPr>
              <a:spcBef>
                <a:spcPts val="800"/>
              </a:spcBef>
              <a:defRPr sz="1500">
                <a:solidFill>
                  <a:srgbClr val="232323"/>
                </a:solidFill>
                <a:latin typeface="Aptos"/>
              </a:defRPr>
            </a:pPr>
            <a:r>
              <a:t>A suffix-array-based index is a promising approach for flexible full-text query processing.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5F5F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11480" y="228600"/>
            <a:ext cx="11338560" cy="658368"/>
          </a:xfrm>
          <a:prstGeom prst="roundRect">
            <a:avLst/>
          </a:prstGeom>
          <a:solidFill>
            <a:srgbClr val="D22312"/>
          </a:solidFill>
          <a:ln>
            <a:solidFill>
              <a:srgbClr val="9619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Future Scope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3474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1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28016" rIns="164592" rtlCol="0" anchor="ctr"/>
          <a:lstStyle/>
          <a:p>
            <a:pPr algn="ctr">
              <a:defRPr sz="1900" b="1">
                <a:solidFill>
                  <a:srgbClr val="D22312"/>
                </a:solidFill>
                <a:latin typeface="Aptos Display"/>
              </a:defRPr>
            </a:pPr>
            <a:r>
              <a:t>Scale</a:t>
            </a:r>
          </a:p>
          <a:p>
            <a:pPr>
              <a:spcBef>
                <a:spcPts val="800"/>
              </a:spcBef>
              <a:defRPr sz="1600">
                <a:solidFill>
                  <a:srgbClr val="232323"/>
                </a:solidFill>
                <a:latin typeface="Aptos"/>
              </a:defRPr>
            </a:pPr>
            <a:r>
              <a:t>Extend evaluation to larger and more diverse document collections and measure how performance changes with dataset size.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70832" y="1280160"/>
            <a:ext cx="3474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1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28016" rIns="164592" rtlCol="0" anchor="ctr"/>
          <a:lstStyle/>
          <a:p>
            <a:pPr algn="ctr">
              <a:defRPr sz="1900" b="1">
                <a:solidFill>
                  <a:srgbClr val="D22312"/>
                </a:solidFill>
                <a:latin typeface="Aptos Display"/>
              </a:defRPr>
            </a:pPr>
            <a:r>
              <a:t>Search</a:t>
            </a:r>
          </a:p>
          <a:p>
            <a:pPr>
              <a:spcBef>
                <a:spcPts val="800"/>
              </a:spcBef>
              <a:defRPr sz="1600">
                <a:solidFill>
                  <a:srgbClr val="232323"/>
                </a:solidFill>
                <a:latin typeface="Aptos"/>
              </a:defRPr>
            </a:pPr>
            <a:r>
              <a:t>Explore richer ranking strategies and additional query features while preserving efficient suffix-array search.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01583" y="1280160"/>
            <a:ext cx="3474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1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28016" rIns="164592" rtlCol="0" anchor="ctr"/>
          <a:lstStyle/>
          <a:p>
            <a:pPr algn="ctr">
              <a:defRPr sz="1900" b="1">
                <a:solidFill>
                  <a:srgbClr val="D22312"/>
                </a:solidFill>
                <a:latin typeface="Aptos Display"/>
              </a:defRPr>
            </a:pPr>
            <a:r>
              <a:t>Engineering</a:t>
            </a:r>
          </a:p>
          <a:p>
            <a:pPr>
              <a:spcBef>
                <a:spcPts val="800"/>
              </a:spcBef>
              <a:defRPr sz="1600">
                <a:solidFill>
                  <a:srgbClr val="232323"/>
                </a:solidFill>
                <a:latin typeface="Aptos"/>
              </a:defRPr>
            </a:pPr>
            <a:r>
              <a:t>Investigate faster construction, dynamic updates, and optimized implementations for practical full-text search systems.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893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5F5F5F"/>
                </a:solidFill>
                <a:latin typeface="Aptos"/>
              </a:defRPr>
            </a:pPr>
            <a:r>
              <a:t>Note: These future-scope points are suggested extensions, since the provided report does not specify a future-scope section.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5F5F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280160" y="1828800"/>
            <a:ext cx="9601200" cy="2011680"/>
          </a:xfrm>
          <a:prstGeom prst="roundRect">
            <a:avLst/>
          </a:prstGeom>
          <a:solidFill>
            <a:srgbClr val="D22312"/>
          </a:solidFill>
          <a:ln>
            <a:solidFill>
              <a:srgbClr val="9619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200" b="1">
                <a:solidFill>
                  <a:srgbClr val="FFFFFF"/>
                </a:solidFill>
                <a:latin typeface="Aptos Display"/>
              </a:defRPr>
            </a:pPr>
            <a:r>
              <a:t>Thank You</a:t>
            </a:r>
          </a:p>
          <a:p>
            <a:pPr algn="ctr">
              <a:defRPr sz="2200">
                <a:solidFill>
                  <a:srgbClr val="FFFFFF"/>
                </a:solidFill>
                <a:latin typeface="Aptos"/>
              </a:defRPr>
            </a:pPr>
            <a:r>
              <a:t>Questions &amp;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4343400"/>
            <a:ext cx="8503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232323"/>
                </a:solidFill>
                <a:latin typeface="Aptos"/>
              </a:defRPr>
            </a:pPr>
            <a:r>
              <a:t>Full-Text Search Engine on a Suffix-Array Index</a:t>
            </a:r>
          </a:p>
          <a:p>
            <a:pPr algn="ctr">
              <a:defRPr sz="1500">
                <a:solidFill>
                  <a:srgbClr val="232323"/>
                </a:solidFill>
                <a:latin typeface="Aptos"/>
              </a:defRPr>
            </a:pPr>
            <a:r>
              <a:t>Team 3 • 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5F5F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ines">
  <a:themeElements>
    <a:clrScheme name="Lines">
      <a:dk1>
        <a:srgbClr val="0F0F0F"/>
      </a:dk1>
      <a:lt1>
        <a:sysClr val="window" lastClr="FFFFFF"/>
      </a:lt1>
      <a:dk2>
        <a:srgbClr val="0A242A"/>
      </a:dk2>
      <a:lt2>
        <a:srgbClr val="F5F2ED"/>
      </a:lt2>
      <a:accent1>
        <a:srgbClr val="E45730"/>
      </a:accent1>
      <a:accent2>
        <a:srgbClr val="27717D"/>
      </a:accent2>
      <a:accent3>
        <a:srgbClr val="8CA8B5"/>
      </a:accent3>
      <a:accent4>
        <a:srgbClr val="607381"/>
      </a:accent4>
      <a:accent5>
        <a:srgbClr val="A39990"/>
      </a:accent5>
      <a:accent6>
        <a:srgbClr val="BA3106"/>
      </a:accent6>
      <a:hlink>
        <a:srgbClr val="E45730"/>
      </a:hlink>
      <a:folHlink>
        <a:srgbClr val="24717F"/>
      </a:folHlink>
    </a:clrScheme>
    <a:fontScheme name="Univers Condensed Arial Light">
      <a:majorFont>
        <a:latin typeface="Univers Condensed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Lines" id="{73C0D9B4-D252-4142-B71F-89E39AB3FA27}" vid="{AF756BC4-928A-4ACB-8AC0-2FBFD00AF40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Lines</Template>
  <TotalTime>5</TotalTime>
  <Words>1069</Words>
  <Application>Microsoft Office PowerPoint</Application>
  <PresentationFormat>Widescreen</PresentationFormat>
  <Paragraphs>93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Arial Nova Light</vt:lpstr>
      <vt:lpstr>Univers Condensed</vt:lpstr>
      <vt:lpstr>Lines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k.Chaitanya</dc:creator>
  <cp:keywords/>
  <dc:description>generated using python-pptx</dc:description>
  <cp:lastModifiedBy>konninti chaitanya</cp:lastModifiedBy>
  <cp:revision>2</cp:revision>
  <dcterms:created xsi:type="dcterms:W3CDTF">2013-01-27T09:14:16Z</dcterms:created>
  <dcterms:modified xsi:type="dcterms:W3CDTF">2026-08-20T03:10:05Z</dcterms:modified>
  <cp:category/>
</cp:coreProperties>
</file>